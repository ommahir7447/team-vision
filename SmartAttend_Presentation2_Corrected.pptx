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0312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latin typeface="Times New Roman"/>
              </a:rPr>
              <a:t>SmartAttend: AI-Enabled Face Recognition Attendance and Academic Monitoring System</a:t>
            </a:r>
          </a:p>
          <a:p>
            <a:pPr algn="ctr">
              <a:spcBef>
                <a:spcPts val="1000"/>
              </a:spcBef>
            </a:pPr>
            <a:r>
              <a:rPr sz="1800" b="0" i="1">
                <a:latin typeface="Times New Roman"/>
              </a:rPr>
              <a:t>Presentation 2 —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latin typeface="Times New Roman"/>
              </a:rPr>
              <a:t>B.Tech CSE (Semester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1215" y="4754880"/>
            <a:ext cx="3291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 i="0">
                <a:latin typeface="Times New Roman"/>
              </a:rPr>
              <a:t>1. 202307020119 - Tisha Amit</a:t>
            </a:r>
          </a:p>
          <a:p>
            <a:pPr algn="r"/>
            <a:r>
              <a:rPr sz="1400" b="0" i="0">
                <a:latin typeface="Times New Roman"/>
              </a:rPr>
              <a:t>2. 202307020135 - Nidhi Tak</a:t>
            </a:r>
          </a:p>
          <a:p>
            <a:pPr algn="r"/>
            <a:r>
              <a:rPr sz="1400" b="0" i="0">
                <a:latin typeface="Times New Roman"/>
              </a:rPr>
              <a:t>3. 202307020124 - Priyanshi Vasa</a:t>
            </a:r>
          </a:p>
          <a:p>
            <a:pPr algn="r"/>
            <a:r>
              <a:rPr sz="1400" b="0" i="0">
                <a:latin typeface="Times New Roman"/>
              </a:rPr>
              <a:t>4. 202307020009 - Ahir 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latin typeface="Times New Roman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Problem Statement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Existing System / Current Solutions &amp; Limitations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Proposed Solution &amp; Objectives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Scope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System Architecture &amp; ER Diagram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Technology Stack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Module Breakdown &amp; Team Responsibilities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Project Timeline / Work Plan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Work Completed Since Presentation 1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Plan &amp; Targets for Next Review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latin typeface="Times New Roman"/>
              </a:rPr>
              <a:t>•  </a:t>
            </a:r>
            <a:r>
              <a:rPr sz="1600" b="0" i="0">
                <a:latin typeface="Times New Roman"/>
              </a:rPr>
              <a:t>Demonstration of Actual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latin typeface="Times New Roman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2309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</a:t>
            </a:r>
            <a:r>
              <a:rPr lang="en-US" sz="1500" dirty="0">
                <a:latin typeface="Times New Roman"/>
              </a:rPr>
              <a:t>AI-based face recognition attendance systems typically function as passive logging tools — they record who was present but offer no forward-looking insight, no way to contest a misrecognition, and often reflect updates to students only after a significant delay.</a:t>
            </a:r>
            <a:endParaRPr lang="en-US" sz="1500" b="1" i="0" dirty="0">
              <a:latin typeface="Times New Roman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</a:t>
            </a:r>
            <a:r>
              <a:rPr lang="en-US" sz="1500" b="1" i="0" dirty="0">
                <a:latin typeface="Times New Roman"/>
              </a:rPr>
              <a:t> </a:t>
            </a:r>
            <a:r>
              <a:rPr lang="en-IN" sz="1500" dirty="0">
                <a:latin typeface="Times New Roman"/>
              </a:rPr>
              <a:t>Doesn’t notify if present or absent right after the class.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IN" sz="1500" dirty="0">
                <a:latin typeface="Times New Roman"/>
              </a:rPr>
              <a:t>• No timely update of the timetable and classroom allocation.</a:t>
            </a:r>
            <a:endParaRPr sz="1500" b="0" i="0" dirty="0">
              <a:latin typeface="Times New Roman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Faculty have no early signal when a student's attendance pattern puts them at risk of falling below mandatory thresholds (commonly 75%).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Students have no way to plan around upcoming absences or correct recognition errors until it's too late.</a:t>
            </a:r>
            <a:endParaRPr lang="en-US" sz="1500" b="0" i="0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latin typeface="Times New Roman"/>
              </a:rPr>
              <a:t>Existing System / Current Solutions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246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RFID / biometric systems: reduce proxy attendance but require students to queue at a single checkpoint, causing delays for large classrooms.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Our own college's existing face recognition attendance system: robust biometric recognition that works reliably even without ideal lighting </a:t>
            </a:r>
            <a:r>
              <a:rPr lang="en-US" sz="1500" b="0" i="0" dirty="0">
                <a:latin typeface="Times New Roman"/>
              </a:rPr>
              <a:t>  </a:t>
            </a:r>
            <a:r>
              <a:rPr sz="1500" b="0" i="0" dirty="0">
                <a:latin typeface="Times New Roman"/>
              </a:rPr>
              <a:t>or power conditions, but it functions purely as a logging tool — attendance reflects on the student portal only after a delay of up to 24 hours, with no confidence transparency, no appeal mechanism, and no predictive insight for students or faculty.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Key Gap: </a:t>
            </a:r>
            <a:r>
              <a:rPr sz="1500" b="0" i="0" dirty="0">
                <a:latin typeface="Times New Roman"/>
              </a:rPr>
              <a:t>Across all existing approaches, none combine real-time sync, transparent confidence reporting, a student-driven appeal process, and predictive planning in a single system — this is the gap </a:t>
            </a:r>
            <a:r>
              <a:rPr sz="1500" b="0" i="0" dirty="0" err="1">
                <a:latin typeface="Times New Roman"/>
              </a:rPr>
              <a:t>SmartAttend</a:t>
            </a:r>
            <a:r>
              <a:rPr sz="1500" b="0" i="0" dirty="0">
                <a:latin typeface="Times New Roman"/>
              </a:rPr>
              <a:t> addresses.</a:t>
            </a:r>
            <a:endParaRPr lang="en-US" sz="1500" b="0" i="0" dirty="0">
              <a:latin typeface="Times New Roman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endParaRPr sz="1500" b="0" i="0" dirty="0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latin typeface="Times New Roman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463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+mj-lt"/>
              </a:rPr>
              <a:t>Core Pipeline: A camera at the classroom entrance captures faces in real time; a CNN-based model (</a:t>
            </a:r>
            <a:r>
              <a:rPr sz="1500" dirty="0" err="1">
                <a:latin typeface="+mj-lt"/>
              </a:rPr>
              <a:t>FaceNet</a:t>
            </a:r>
            <a:r>
              <a:rPr sz="1500" dirty="0">
                <a:latin typeface="+mj-lt"/>
              </a:rPr>
              <a:t>/</a:t>
            </a:r>
            <a:r>
              <a:rPr sz="1500" dirty="0" err="1">
                <a:latin typeface="+mj-lt"/>
              </a:rPr>
              <a:t>ArcFace</a:t>
            </a:r>
            <a:r>
              <a:rPr sz="1500" dirty="0">
                <a:latin typeface="+mj-lt"/>
              </a:rPr>
              <a:t>) identifies each student and returns a similarity/distance score — matches within the configured threshold are accepted, while uncertain matches can be routed for manual verification. A liveness layer blocks photo/video spoofing.</a:t>
            </a:r>
            <a:endParaRPr lang="en-US" sz="1500" dirty="0">
              <a:latin typeface="+mj-lt"/>
            </a:endParaRPr>
          </a:p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+mj-lt"/>
              </a:rPr>
              <a:t>Appeal Workflow: If marked absent, students are notified the same day and can submit a justification/appeal from their portal, reviewed by faculty.</a:t>
            </a:r>
            <a:endParaRPr lang="en-US" sz="1500" dirty="0">
              <a:latin typeface="+mj-lt"/>
            </a:endParaRPr>
          </a:p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+mj-lt"/>
              </a:rPr>
              <a:t>Agentic AI Planner: Students can ask free-form questions like “Can I skip tomorrow's lecture and stay above 75%?” — an LLM agent (Claude/OpenAI API with function calling) pulls real attendance data and reasons through the answer, rather than using a fixed formula.</a:t>
            </a:r>
            <a:endParaRPr lang="en-US" sz="1500" dirty="0">
              <a:latin typeface="+mj-lt"/>
            </a:endParaRPr>
          </a:p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+mj-lt"/>
              </a:rPr>
              <a:t>Updates regularly: The timetable will be up to date and without any glitches.</a:t>
            </a:r>
            <a:endParaRPr lang="en-US" sz="1500" dirty="0">
              <a:latin typeface="+mj-lt"/>
            </a:endParaRPr>
          </a:p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+mj-lt"/>
              </a:rPr>
              <a:t>Faculty Monitoring: The faculty will be able to see the students punch time with all the record of when the student was absent and the overall </a:t>
            </a:r>
            <a:r>
              <a:rPr sz="1500" dirty="0" err="1">
                <a:latin typeface="+mj-lt"/>
              </a:rPr>
              <a:t>attendence</a:t>
            </a:r>
            <a:r>
              <a:rPr sz="1500" dirty="0">
                <a:latin typeface="+mj-lt"/>
              </a:rPr>
              <a:t> percentage  of individual student.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latin typeface="Times New Roman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Automate attendance marking through real-time facial recognition with liveness detection to prevent spoofing.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Report a confidence score for every recognition, routing low-confidence matches to manual verification.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Sync attendance to student and faculty portals in real time, rather than after a delay.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Notify students immediately when marked absent, and allow them to submit an appeal.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Provide faculty with a live dashboard showing attendance trends and predictive defaulter alerts.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Give students an agentic AI “What If?” planner that reasons over real attendance data to answer natural-language questions.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Validate the system's accuracy and reliability through real classroom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latin typeface="Times New Roman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In Scope: </a:t>
            </a:r>
            <a:r>
              <a:rPr sz="1500" b="0" i="0" dirty="0">
                <a:latin typeface="Times New Roman"/>
              </a:rPr>
              <a:t>Attendance automation for classroom sessions within the university during the current academic term, using a fixed camera at the entry point.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Recognition, liveness detection, confidence-based verification, real-time sync, appeal workflow, faculty dashboard, and agentic student planner — all as described in the SRS.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•  </a:t>
            </a:r>
            <a:r>
              <a:rPr sz="1500" b="0" i="0" dirty="0">
                <a:latin typeface="Times New Roman"/>
              </a:rPr>
              <a:t>Pilot testing in a limited number of real classrooms to validate accuracy and usability.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 i="0" dirty="0">
                <a:latin typeface="Times New Roman"/>
              </a:rPr>
              <a:t>Out of Scope: </a:t>
            </a:r>
            <a:r>
              <a:rPr sz="1500" b="0" i="0" dirty="0">
                <a:latin typeface="Times New Roman"/>
              </a:rPr>
              <a:t>Multi-campus deployment, integration with the university's official ERP/attendance system, and mobile app versions of the portals are out of scope for this project 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latin typeface="Times New Roman"/>
              </a:rPr>
              <a:t>Proposed System 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471" y="1691639"/>
            <a:ext cx="5215581" cy="49476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latin typeface="Times New Roman"/>
              </a:rPr>
              <a:t>Database / ER Diagram</a:t>
            </a:r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202" y="1691640"/>
            <a:ext cx="928329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latin typeface="Times New Roman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880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/>
              <a:t>Hardware / IoT: ESP32-CAM module (or webcam) at classroom entry point; edge-based face detection before transmitting recognized IDs/embeddings to the cloud.</a:t>
            </a:r>
            <a:endParaRPr lang="en-US" sz="1500" dirty="0"/>
          </a:p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/>
              <a:t>Computer Vision / ML: OpenCV (Haar Cascade) for face detection; </a:t>
            </a:r>
            <a:r>
              <a:rPr sz="1500" dirty="0" err="1"/>
              <a:t>DeepFace</a:t>
            </a:r>
            <a:r>
              <a:rPr sz="1500" dirty="0"/>
              <a:t> (</a:t>
            </a:r>
            <a:r>
              <a:rPr sz="1500" dirty="0" err="1"/>
              <a:t>ArcFace</a:t>
            </a:r>
            <a:r>
              <a:rPr sz="1500" dirty="0"/>
              <a:t> model) for recognition via cosine-distance matching; </a:t>
            </a:r>
            <a:r>
              <a:rPr sz="1500" dirty="0" err="1"/>
              <a:t>MediaPipe</a:t>
            </a:r>
            <a:r>
              <a:rPr sz="1500" dirty="0"/>
              <a:t> Face </a:t>
            </a:r>
            <a:r>
              <a:rPr sz="1500" dirty="0" err="1"/>
              <a:t>Landmarker</a:t>
            </a:r>
            <a:r>
              <a:rPr sz="1500" dirty="0"/>
              <a:t> for blink-based (EAR) liveness detection.</a:t>
            </a:r>
            <a:endParaRPr lang="en-US" sz="1500" dirty="0"/>
          </a:p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/>
              <a:t>Backend / Database: Python, Flask, Flask-</a:t>
            </a:r>
            <a:r>
              <a:rPr sz="1500" dirty="0" err="1"/>
              <a:t>SQLAlchemy</a:t>
            </a:r>
            <a:r>
              <a:rPr sz="1500" dirty="0"/>
              <a:t>, Flask-JWT-Extended; SQLite for local development, with a config hook to switch to a hosted Firebase/AWS database for deployment; Google OAuth (university-domain sign-in) alongside email/password + JWT sessions.</a:t>
            </a:r>
            <a:endParaRPr lang="en-US" sz="1500" dirty="0"/>
          </a:p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/>
              <a:t>Agentic AI: Tool-calling architecture (</a:t>
            </a:r>
            <a:r>
              <a:rPr sz="1500" dirty="0" err="1"/>
              <a:t>get_attendance_history</a:t>
            </a:r>
            <a:r>
              <a:rPr sz="1500" dirty="0"/>
              <a:t>, </a:t>
            </a:r>
            <a:r>
              <a:rPr sz="1500" dirty="0" err="1"/>
              <a:t>calculate_projection</a:t>
            </a:r>
            <a:r>
              <a:rPr sz="1500" dirty="0"/>
              <a:t>) implemented and schema-ready for Claude/OpenAI API integration; a rule-based fallback currently powers the planner end-to-end while live LLM wiring is completed.</a:t>
            </a:r>
            <a:endParaRPr lang="en-US" sz="1500" dirty="0"/>
          </a:p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/>
              <a:t>Frontend: HTML, CSS, vanilla JavaScript, Bootstrap, Chart.js — faculty dashboard and student portal largely built out.</a:t>
            </a:r>
            <a:endParaRPr lang="en-US" sz="1500" dirty="0"/>
          </a:p>
          <a:p>
            <a:pPr marL="285750" indent="-285750">
              <a:lnSpc>
                <a:spcPct val="12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/>
              <a:t>Deployment: Render or Railway planned for backend hosting; environment-variable secrets management.</a:t>
            </a:r>
            <a:br>
              <a:rPr sz="1500" dirty="0"/>
            </a:br>
            <a:r>
              <a:rPr sz="1500" dirty="0"/>
              <a:t>Other: Git/GitHub, Postman.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latin typeface="Times New Roman"/>
              </a:rPr>
              <a:t>Module Breakdown &amp; Team Responsibilities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721976"/>
              </p:ext>
            </p:extLst>
          </p:nvPr>
        </p:nvGraphicFramePr>
        <p:xfrm>
          <a:off x="548640" y="1691640"/>
          <a:ext cx="9966960" cy="3518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725"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anchor="ctr">
                    <a:solidFill>
                      <a:srgbClr val="2C5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Scope</a:t>
                      </a:r>
                    </a:p>
                  </a:txBody>
                  <a:tcPr anchor="ctr">
                    <a:solidFill>
                      <a:srgbClr val="2C5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Owner</a:t>
                      </a:r>
                    </a:p>
                  </a:txBody>
                  <a:tcPr anchor="ctr">
                    <a:solidFill>
                      <a:srgbClr val="2C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007">
                <a:tc>
                  <a:txBody>
                    <a:bodyPr/>
                    <a:lstStyle/>
                    <a:p>
                      <a:r>
                        <a:rPr sz="1300" b="0"/>
                        <a:t>Face Recognition &amp; Liveness (CV/ML)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Dataset, recognition model, embeddings, liveness / spoof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/>
                        <a:t>Tisha Amit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300" b="0" dirty="0"/>
                        <a:t>Core Backend &amp; Database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/>
                        <a:t>Flask APIs, DB schema, authentication, attendance logging</a:t>
                      </a:r>
                      <a:endParaRPr sz="1300" b="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/>
                        <a:t>Om Ahir</a:t>
                      </a:r>
                      <a:endParaRPr lang="en-IN" sz="1300" b="1" dirty="0"/>
                    </a:p>
                    <a:p>
                      <a:r>
                        <a:rPr lang="en-IN" sz="1300" b="1" dirty="0"/>
                        <a:t>Priyanshi Vasa</a:t>
                      </a:r>
                      <a:endParaRPr sz="1300" b="1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300" b="0" dirty="0"/>
                        <a:t>Frontend (Dashboard &amp; Portal — Core UI)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Faculty dashboard, student portal, attendance views and shared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Nidhi</a:t>
                      </a:r>
                      <a:r>
                        <a:rPr sz="1300" b="1" dirty="0"/>
                        <a:t> Tak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300" b="0" dirty="0"/>
                        <a:t>Appeal Workflow &amp; Notifications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Student appeals, faculty review, absence notifications and workflow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/>
                        <a:t>Priyanshi Vasa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9127" y="5510546"/>
            <a:ext cx="110944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/>
              <a:t>Ownership finalized: Tisha Amit — Face Recognition &amp; Liveness | Om Ahir — Core Backend &amp; Database | Nidhi Tak — Frontend | Priyanshi Vasa — Appeal Workflow. Each owner handles implementation and module-level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latin typeface="Times New Roman"/>
              </a:rPr>
              <a:t>Project Timeline / Work Plan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26562"/>
              </p:ext>
            </p:extLst>
          </p:nvPr>
        </p:nvGraphicFramePr>
        <p:xfrm>
          <a:off x="536713" y="1691639"/>
          <a:ext cx="10893287" cy="4520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2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921">
                <a:tc>
                  <a:txBody>
                    <a:bodyPr/>
                    <a:lstStyle/>
                    <a:p>
                      <a:r>
                        <a:rPr sz="1200" b="1"/>
                        <a:t>Period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/>
                        <a:t>Focus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/>
                        <a:t>Major Deliverables / Milestones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878">
                <a:tc>
                  <a:txBody>
                    <a:bodyPr/>
                    <a:lstStyle/>
                    <a:p>
                      <a:r>
                        <a:rPr sz="1200" b="1"/>
                        <a:t>August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Requirements, Architecture &amp; Recognition Setup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SRS, architecture, ER diagram and module ownership finalized; face dataset/enrollment and recognition + liveness prototype completed.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921">
                <a:tc>
                  <a:txBody>
                    <a:bodyPr/>
                    <a:lstStyle/>
                    <a:p>
                      <a:r>
                        <a:rPr sz="1200" b="1"/>
                        <a:t>September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Core Backend &amp; Database — Om Ahir</a:t>
                      </a:r>
                      <a:r>
                        <a:rPr lang="en-US" sz="1200" b="0" dirty="0"/>
                        <a:t> &amp; Priyanshi Vasa</a:t>
                      </a:r>
                      <a:endParaRPr sz="1200" b="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Flask APIs, authentication, database schema, attendance models and attendance logging implemented.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921">
                <a:tc>
                  <a:txBody>
                    <a:bodyPr/>
                    <a:lstStyle/>
                    <a:p>
                      <a:r>
                        <a:rPr sz="1200" b="1"/>
                        <a:t>September–October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Frontend — Nidhi Tak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Faculty dashboard, student portal, attendance views and common UI developed.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921">
                <a:tc>
                  <a:txBody>
                    <a:bodyPr/>
                    <a:lstStyle/>
                    <a:p>
                      <a:r>
                        <a:rPr sz="1200" b="1"/>
                        <a:t>October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Appeal Workflow — Priyanshi Vasa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Appeal submission/review, absence notifications and related workflow implemented.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878">
                <a:tc>
                  <a:txBody>
                    <a:bodyPr/>
                    <a:lstStyle/>
                    <a:p>
                      <a:r>
                        <a:rPr sz="1200" b="1"/>
                        <a:t>October–November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Integration &amp; Agentic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Recognition → backend → database → frontend integration; agentic planner and attendance-data tools implemented.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0878">
                <a:tc>
                  <a:txBody>
                    <a:bodyPr/>
                    <a:lstStyle/>
                    <a:p>
                      <a:r>
                        <a:rPr sz="1200" b="1" dirty="0"/>
                        <a:t>November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Testing, Pilot, Deployment &amp; Finalization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End-to-end testing, limited classroom pilot, deployment preparation, documentation, results and final presentation.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latin typeface="Times New Roman"/>
              </a:rPr>
              <a:t>Work Completed Since Presentation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04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dirty="0"/>
              <a:t>• Software Requirements Specification (SRS) drafted with functional/non-functional requirements and detailed use cases.</a:t>
            </a:r>
            <a:br>
              <a:rPr sz="1500" dirty="0"/>
            </a:br>
            <a:r>
              <a:rPr sz="1500" dirty="0"/>
              <a:t>• System architecture designed as a layered edge → recognition → backend/cloud → presentation flow.</a:t>
            </a:r>
            <a:br>
              <a:rPr sz="1500" dirty="0"/>
            </a:br>
            <a:r>
              <a:rPr sz="1500" dirty="0"/>
              <a:t>• Database structure designed and implemented as </a:t>
            </a:r>
            <a:r>
              <a:rPr sz="1500" dirty="0" err="1"/>
              <a:t>SQLAlchemy</a:t>
            </a:r>
            <a:r>
              <a:rPr sz="1500" dirty="0"/>
              <a:t> models (User, Course, Enrollment, </a:t>
            </a:r>
            <a:r>
              <a:rPr sz="1500" dirty="0" err="1"/>
              <a:t>AttendanceRecord</a:t>
            </a:r>
            <a:r>
              <a:rPr sz="1500" dirty="0"/>
              <a:t>, Appeal) on SQLite for now, with a config hook to move to a hosted cloud database ahead of the pilot.</a:t>
            </a:r>
            <a:br>
              <a:rPr sz="1500" dirty="0"/>
            </a:br>
            <a:r>
              <a:rPr sz="1500" dirty="0"/>
              <a:t>• Face dataset collected, enrollment completed, and </a:t>
            </a:r>
            <a:r>
              <a:rPr sz="1500" dirty="0" err="1"/>
              <a:t>ArcFace</a:t>
            </a:r>
            <a:r>
              <a:rPr sz="1500" dirty="0"/>
              <a:t> (via </a:t>
            </a:r>
            <a:r>
              <a:rPr sz="1500" dirty="0" err="1"/>
              <a:t>DeepFace</a:t>
            </a:r>
            <a:r>
              <a:rPr sz="1500" dirty="0"/>
              <a:t>) embeddings generated and stored for enrolled users.</a:t>
            </a:r>
            <a:br>
              <a:rPr sz="1500" dirty="0"/>
            </a:br>
            <a:r>
              <a:rPr sz="1500" dirty="0"/>
              <a:t>• Live face recognition and blink-based (EAR) liveness detection implemented and tested successfully.</a:t>
            </a:r>
            <a:br>
              <a:rPr sz="1500" dirty="0"/>
            </a:br>
            <a:r>
              <a:rPr sz="1500" dirty="0"/>
              <a:t>• Core Backend (Module 2) substantially built: Google OAuth + email/password + JWT authentication, attendance logging, and student/faculty data APIs are implemented and testable.</a:t>
            </a:r>
            <a:br>
              <a:rPr sz="1500" dirty="0"/>
            </a:br>
            <a:r>
              <a:rPr sz="1500" dirty="0"/>
              <a:t>• Frontend (Module 3) substantially built: faculty dashboard, student portal, and shared design system implemented with live chart visualizations.</a:t>
            </a:r>
            <a:br>
              <a:rPr sz="1500" dirty="0"/>
            </a:br>
            <a:r>
              <a:rPr sz="1500" dirty="0"/>
              <a:t>• Appeal workflow and defaulter-prediction logic (Module 4) written; agentic planner tool functions implemented and running on a rule-based fallback, pending live LLM integration and wiring into the main app.</a:t>
            </a:r>
            <a:br>
              <a:rPr sz="1500" dirty="0"/>
            </a:br>
            <a:r>
              <a:rPr sz="1500" dirty="0"/>
              <a:t>• Current status: Face Recognition + Liveness fully working standalone; Core Backend and Frontend largely built; Module 4 wiring and full end-to-end integration are the immediate next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latin typeface="Times New Roman"/>
              </a:rPr>
              <a:t>Plan &amp; Targets for Next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208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dirty="0"/>
              <a:t>• Register and wire the appeal workflow and planner blueprints into the main Flask app (implemented but not yet connected).</a:t>
            </a:r>
            <a:br>
              <a:rPr sz="1500" dirty="0"/>
            </a:br>
            <a:r>
              <a:rPr sz="1500" dirty="0"/>
              <a:t>• Replace the rule-based planner fallback with live Claude/OpenAI API tool-calling.</a:t>
            </a:r>
            <a:br>
              <a:rPr sz="1500" dirty="0"/>
            </a:br>
            <a:r>
              <a:rPr sz="1500" dirty="0"/>
              <a:t>• Replace simulated notification dispatch with real FCM/Twilio/SMTP integration.</a:t>
            </a:r>
            <a:br>
              <a:rPr sz="1500" dirty="0"/>
            </a:br>
            <a:r>
              <a:rPr sz="1500" dirty="0"/>
              <a:t>• Migrate from local SQLite to a hosted cloud database (Firebase/AWS) ahead of the classroom pilot.</a:t>
            </a:r>
            <a:br>
              <a:rPr sz="1500" dirty="0"/>
            </a:br>
            <a:r>
              <a:rPr sz="1500" dirty="0"/>
              <a:t>• Integrate recognition → backend → database → frontend into one real end-to-end attendance flow.</a:t>
            </a:r>
            <a:br>
              <a:rPr sz="1500" dirty="0"/>
            </a:br>
            <a:r>
              <a:rPr sz="1500" dirty="0"/>
              <a:t>• Expand the face dataset and continue tuning recognition/liveness thresholds.</a:t>
            </a:r>
            <a:br>
              <a:rPr sz="1500" dirty="0"/>
            </a:br>
            <a:r>
              <a:rPr sz="1500" dirty="0"/>
              <a:t>• Perform system-level testing, deployment preparation, and a limited classroom pilot validation.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latin typeface="Times New Roman"/>
              </a:rPr>
              <a:t>Demonstration of Actual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295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dirty="0"/>
              <a:t>• Requirement Analysis / SRS: Prepared with functional/non-functional requirements and use cases.</a:t>
            </a:r>
            <a:br>
              <a:rPr sz="1500" dirty="0"/>
            </a:br>
            <a:r>
              <a:rPr sz="1500" dirty="0"/>
              <a:t>• System Architecture &amp; ER Diagram: Layered architecture and database schema designed and implemented as </a:t>
            </a:r>
            <a:r>
              <a:rPr sz="1500" dirty="0" err="1"/>
              <a:t>SQLAlchemy</a:t>
            </a:r>
            <a:r>
              <a:rPr sz="1500" dirty="0"/>
              <a:t> models.</a:t>
            </a:r>
            <a:br>
              <a:rPr sz="1500" dirty="0"/>
            </a:br>
            <a:r>
              <a:rPr sz="1500" dirty="0"/>
              <a:t>• Face Recognition: Enrollment + </a:t>
            </a:r>
            <a:r>
              <a:rPr sz="1500" dirty="0" err="1"/>
              <a:t>ArcFace</a:t>
            </a:r>
            <a:r>
              <a:rPr sz="1500" dirty="0"/>
              <a:t> (</a:t>
            </a:r>
            <a:r>
              <a:rPr sz="1500" dirty="0" err="1"/>
              <a:t>DeepFace</a:t>
            </a:r>
            <a:r>
              <a:rPr sz="1500" dirty="0"/>
              <a:t>) embeddings generated; live recognition demonstrated against enrolled users.</a:t>
            </a:r>
            <a:br>
              <a:rPr sz="1500" dirty="0"/>
            </a:br>
            <a:r>
              <a:rPr sz="1500" dirty="0"/>
              <a:t>• Liveness Detection: Blink-based (EAR) liveness implemented and demonstrated successfully.</a:t>
            </a:r>
            <a:br>
              <a:rPr sz="1500" dirty="0"/>
            </a:br>
            <a:r>
              <a:rPr sz="1500" dirty="0"/>
              <a:t>• Core Backend &amp; Frontend: Authentication (Google OAuth + JWT), attendance logging APIs, faculty dashboard, and student portal implemented and functional.</a:t>
            </a:r>
            <a:br>
              <a:rPr sz="1500" dirty="0"/>
            </a:br>
            <a:r>
              <a:rPr sz="1500" dirty="0"/>
              <a:t>• Appeal Workflow &amp; Agentic Planner: Backend logic and tool functions written, currently running on a rule-based fallback; live LLM integration and full app wiring are the next milestone.</a:t>
            </a:r>
            <a:br>
              <a:rPr sz="1500" dirty="0"/>
            </a:br>
            <a:r>
              <a:rPr sz="1500" dirty="0"/>
              <a:t>• Current Demonstration Status: Recognition + liveness fully working standalone; backend and frontend independently functional; end-to-end integration across all modules is in progress.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987384" cy="685800"/>
          </a:xfrm>
          <a:prstGeom prst="rect">
            <a:avLst/>
          </a:prstGeom>
        </p:spPr>
      </p:pic>
      <p:pic>
        <p:nvPicPr>
          <p:cNvPr id="3" name="Picture 2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137160"/>
            <a:ext cx="1130199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0" i="0">
                <a:latin typeface="Times New Roman"/>
              </a:rPr>
              <a:t>Thank You!</a:t>
            </a:r>
          </a:p>
          <a:p>
            <a:pPr algn="ctr"/>
            <a:r>
              <a:rPr sz="2000" b="0" i="0">
                <a:latin typeface="Times New Roman"/>
              </a:rPr>
              <a:t>Questions &amp;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3530</TotalTime>
  <Words>1800</Words>
  <Application>Microsoft Office PowerPoint</Application>
  <PresentationFormat>Widescreen</PresentationFormat>
  <Paragraphs>105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 ahir</cp:lastModifiedBy>
  <cp:revision>7</cp:revision>
  <dcterms:created xsi:type="dcterms:W3CDTF">2013-01-27T09:14:16Z</dcterms:created>
  <dcterms:modified xsi:type="dcterms:W3CDTF">2026-08-24T13:38:03Z</dcterms:modified>
  <cp:category/>
</cp:coreProperties>
</file>